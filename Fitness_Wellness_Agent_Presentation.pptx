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Relationship Id="rId9" Type="http://schemas.openxmlformats.org/officeDocument/2006/relationships/font" Target="fonts/Raleway-bold.fntdata"/><Relationship Id="rId10" Type="http://schemas.openxmlformats.org/officeDocument/2006/relationships/font" Target="fonts/Raleway-italic.fntdata"/><Relationship Id="rId11" Type="http://schemas.openxmlformats.org/officeDocument/2006/relationships/font" Target="fonts/Raleway-boldItalic.fntdata"/><Relationship Id="rId12" Type="http://schemas.openxmlformats.org/officeDocument/2006/relationships/font" Target="fonts/Lato-regular.fntdata"/><Relationship Id="rId13" Type="http://schemas.openxmlformats.org/officeDocument/2006/relationships/font" Target="fonts/Lato-bold.fntdata"/><Relationship Id="rId14" Type="http://schemas.openxmlformats.org/officeDocument/2006/relationships/font" Target="fonts/Lato-italic.fntdata"/><Relationship Id="rId15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397d51791a304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1397d51791a304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693250" y="1318650"/>
            <a:ext cx="33744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A9988"/>
                </a:solidFill>
                <a:latin typeface="Arial"/>
              </a:defRPr>
            </a:pPr>
            <a:r>
              <a:t>Fitness &amp; Wellness Agent</a:t>
            </a:r>
            <a:endParaRPr/>
          </a:p>
          <a:p>
            <a:pPr>
              <a:spcBef>
                <a:spcPts val="200"/>
              </a:spcBef>
              <a:defRPr sz="919" i="1">
                <a:solidFill>
                  <a:srgbClr val="4A5568"/>
                </a:solidFill>
                <a:latin typeface="Arial"/>
              </a:defRPr>
            </a:pPr>
            <a:r>
              <a:t>Adaptive AI System with Gemini Flash Lite, Ollama &amp; Dynamic Plan Evolution</a:t>
            </a: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30000" y="367837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A1A1A"/>
                </a:solidFill>
                <a:latin typeface="Arial"/>
              </a:defRPr>
            </a:pPr>
            <a:r>
              <a:t>Team FitPulse</a:t>
            </a:r>
            <a:endParaRPr/>
          </a:p>
          <a:p>
            <a:pPr>
              <a:defRPr sz="880">
                <a:solidFill>
                  <a:srgbClr val="4A5568"/>
                </a:solidFill>
                <a:latin typeface="Arial"/>
              </a:defRPr>
            </a:pPr>
            <a:r>
              <a:t>Presenter: Murali Krishna D | Roll No: evernorth-aai-1152623</a:t>
            </a:r>
          </a:p>
          <a:p>
            <a:pPr>
              <a:defRPr sz="880">
                <a:solidFill>
                  <a:srgbClr val="1A9988"/>
                </a:solidFill>
                <a:latin typeface="Arial"/>
              </a:defRPr>
            </a:pPr>
            <a:r>
              <a:t>Submitted to: Course Faculty &amp; Mentors | IIIT Hyderabad</a:t>
            </a:r>
          </a:p>
        </p:txBody>
      </p:sp>
      <p:sp>
        <p:nvSpPr>
          <p:cNvPr id="88" name="Google Shape;88;p13"/>
          <p:cNvSpPr txBox="1"/>
          <p:nvPr>
            <p:ph idx="2" type="body"/>
          </p:nvPr>
        </p:nvSpPr>
        <p:spPr>
          <a:xfrm>
            <a:off x="5115875" y="810225"/>
            <a:ext cx="3374400" cy="3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  <a:defRPr sz="1250" b="1">
                <a:solidFill>
                  <a:srgbClr val="1A9988"/>
                </a:solidFill>
                <a:latin typeface="Arial"/>
              </a:defRPr>
            </a:pPr>
            <a:r>
              <a:t>Team Learnings &amp; Engineering Insights</a:t>
            </a:r>
            <a:endParaRPr/>
          </a:p>
          <a:p>
            <a:pPr>
              <a:spcAft>
                <a:spcPts val="4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Hybrid ReAct &amp; LLM Orchestration: </a:t>
            </a:r>
            <a:r>
              <a:rPr sz="840">
                <a:solidFill>
                  <a:srgbClr val="4A5568"/>
                </a:solidFill>
                <a:latin typeface="Arial"/>
              </a:rPr>
              <a:t>Coupled Google Gemini Flash Lite (and local Ollama) with deterministic domain tools. The LLM handles natural language reasoning while deterministic tools enforce mathematical and physiological precision.</a:t>
            </a:r>
          </a:p>
          <a:p>
            <a:pPr>
              <a:spcAft>
                <a:spcPts val="4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Dual-Layer State Continuity: </a:t>
            </a:r>
            <a:r>
              <a:rPr sz="840">
                <a:solidFill>
                  <a:srgbClr val="4A5568"/>
                </a:solidFill>
                <a:latin typeface="Arial"/>
              </a:rPr>
              <a:t>Health guidance collapses without session-to-session memory. Implementing persistent biometric and injury stores decoupled from conversational turns prevents conflicting or hazardous recommendations.</a:t>
            </a:r>
          </a:p>
          <a:p>
            <a:pPr>
              <a:spcAft>
                <a:spcPts val="4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Closed-Loop Feedback &amp; Adaptive Replanning: </a:t>
            </a:r>
            <a:r>
              <a:rPr sz="840">
                <a:solidFill>
                  <a:srgbClr val="4A5568"/>
                </a:solidFill>
                <a:latin typeface="Arial"/>
              </a:rPr>
              <a:t>A static fitness plan quickly becomes obsolete. By continuously monitoring conversational signals (soreness, fatigue, perceived exertion), the agent dynamically adapts load, substitutes exercises, and optimizes plans.</a:t>
            </a:r>
          </a:p>
          <a:p>
            <a:pPr>
              <a:spcAft>
                <a:spcPts val="4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Deterministic Pre-Triage Optimizes Latency: </a:t>
            </a:r>
            <a:r>
              <a:rPr sz="840">
                <a:solidFill>
                  <a:srgbClr val="4A5568"/>
                </a:solidFill>
                <a:latin typeface="Arial"/>
              </a:rPr>
              <a:t>Routing user intents (facility search, progress logging, diet queries, plan adaptation) via rule-based triage reduces token overhead by over 50% while delivering sub-second response times.</a:t>
            </a:r>
          </a:p>
          <a:p>
            <a:pPr>
              <a:spcAft>
                <a:spcPts val="4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Safety as an Invariant Gate: </a:t>
            </a:r>
            <a:r>
              <a:rPr sz="840">
                <a:solidFill>
                  <a:srgbClr val="4A5568"/>
                </a:solidFill>
                <a:latin typeface="Arial"/>
              </a:rPr>
              <a:t>Treating health safety as a non-negotiable architectural gate—filtering contraindications and dangerous deficits post-generation—is indispensable before dispatching any autonomous health advice.</a:t>
            </a:r>
          </a:p>
        </p:txBody>
      </p:sp>
      <p:sp>
        <p:nvSpPr>
          <p:cNvPr id="89" name="Google Shape;89;p13"/>
          <p:cNvSpPr txBox="1"/>
          <p:nvPr>
            <p:ph idx="2" type="body"/>
          </p:nvPr>
        </p:nvSpPr>
        <p:spPr>
          <a:xfrm>
            <a:off x="693250" y="1912950"/>
            <a:ext cx="3374400" cy="15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  <a:defRPr sz="1150" b="1">
                <a:solidFill>
                  <a:srgbClr val="1A1A1A"/>
                </a:solidFill>
                <a:latin typeface="Arial"/>
              </a:defRPr>
            </a:pPr>
            <a:r>
              <a:t>System Overview &amp; Core Capabilities</a:t>
            </a:r>
            <a:endParaRPr/>
          </a:p>
          <a:p>
            <a:pPr>
              <a:spcAft>
                <a:spcPts val="3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Targeted Workout Synthesis: </a:t>
            </a:r>
            <a:r>
              <a:rPr sz="840">
                <a:solidFill>
                  <a:srgbClr val="4A5568"/>
                </a:solidFill>
                <a:latin typeface="Arial"/>
              </a:rPr>
              <a:t>Dynamically generates biomechanically sound routines tailored to user goals, equipment, and injury restrictions.</a:t>
            </a:r>
          </a:p>
          <a:p>
            <a:pPr>
              <a:spcAft>
                <a:spcPts val="3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Nutritional Precision: </a:t>
            </a:r>
            <a:r>
              <a:rPr sz="840">
                <a:solidFill>
                  <a:srgbClr val="4A5568"/>
                </a:solidFill>
                <a:latin typeface="Arial"/>
              </a:rPr>
              <a:t>Calculates BMR/TDEE and prescribes macro-balanced meal schedules strictly adhering to dietary preferences and allergies.</a:t>
            </a:r>
          </a:p>
          <a:p>
            <a:pPr>
              <a:spcAft>
                <a:spcPts val="3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Geospatial Facility Discovery: </a:t>
            </a:r>
            <a:r>
              <a:rPr sz="840">
                <a:solidFill>
                  <a:srgbClr val="4A5568"/>
                </a:solidFill>
                <a:latin typeface="Arial"/>
              </a:rPr>
              <a:t>Integrates location services to recommend proximity-ranked fitness centers, gyms, and training facilities.</a:t>
            </a:r>
          </a:p>
          <a:p>
            <a:pPr>
              <a:spcAft>
                <a:spcPts val="3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Closed-Loop Progress Analytics: </a:t>
            </a:r>
            <a:r>
              <a:rPr sz="840">
                <a:solidFill>
                  <a:srgbClr val="4A5568"/>
                </a:solidFill>
                <a:latin typeface="Arial"/>
              </a:rPr>
              <a:t>Continuously ingests metrics, tracks consistency trends, and logs longitudinal adherence.</a:t>
            </a:r>
          </a:p>
          <a:p>
            <a:pPr>
              <a:spcAft>
                <a:spcPts val="3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• Active Monitoring &amp; Plan Evolution: </a:t>
            </a:r>
            <a:r>
              <a:rPr sz="840">
                <a:solidFill>
                  <a:srgbClr val="4A5568"/>
                </a:solidFill>
                <a:latin typeface="Arial"/>
              </a:rPr>
              <a:t>Actively monitors conversational user feedback (fatigue, soreness, joint pain) to dynamically recalibrate volume and adapt plans in real-time.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A9988"/>
                </a:solidFill>
                <a:latin typeface="Arial"/>
              </a:defRPr>
            </a:pPr>
            <a:r>
              <a:t>System Architecture &amp; Adaptive Execution Workflow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9450" y="2078875"/>
            <a:ext cx="7688700" cy="23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4206240" y="4069080"/>
            <a:ext cx="3291840" cy="3657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  <a:defRPr sz="880" b="1">
                <a:solidFill>
                  <a:srgbClr val="1A1A1A"/>
                </a:solidFill>
                <a:latin typeface="Arial"/>
              </a:defRPr>
            </a:pPr>
            <a:r>
              <a:t>Project Repo: github.com/Krishna4/fitness-wellness-agent</a:t>
            </a:r>
            <a:endParaRPr/>
          </a:p>
        </p:txBody>
      </p:sp>
      <p:pic>
        <p:nvPicPr>
          <p:cNvPr id="97" name="Picture 96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4160520" cy="184912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983480" y="1691640"/>
            <a:ext cx="352044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A1A1A"/>
                </a:solidFill>
                <a:latin typeface="Arial"/>
              </a:defRPr>
            </a:pPr>
            <a:r>
              <a:t>End-to-End Execution &amp; Adaptation Pipeline</a:t>
            </a:r>
          </a:p>
          <a:p>
            <a:pPr>
              <a:spcAft>
                <a:spcPts val="300"/>
              </a:spcAft>
            </a:pPr>
            <a:r>
              <a:rPr sz="819" b="1">
                <a:solidFill>
                  <a:srgbClr val="1E3A8A"/>
                </a:solidFill>
                <a:latin typeface="Arial"/>
              </a:rPr>
              <a:t>1. Intent Triage &amp; Ingestion: </a:t>
            </a:r>
            <a:r>
              <a:rPr sz="819">
                <a:solidFill>
                  <a:srgbClr val="4A5568"/>
                </a:solidFill>
                <a:latin typeface="Arial"/>
              </a:rPr>
              <a:t>Intercepts multi-modal inputs (queries, coordinates, telemetry) and deterministically classifies user objective to eliminate latency.</a:t>
            </a:r>
          </a:p>
          <a:p>
            <a:pPr>
              <a:spcAft>
                <a:spcPts val="300"/>
              </a:spcAft>
            </a:pPr>
            <a:r>
              <a:rPr sz="819" b="1">
                <a:solidFill>
                  <a:srgbClr val="1E3A8A"/>
                </a:solidFill>
                <a:latin typeface="Arial"/>
              </a:rPr>
              <a:t>2. Biometric State Hydration: </a:t>
            </a:r>
            <a:r>
              <a:rPr sz="819">
                <a:solidFill>
                  <a:srgbClr val="4A5568"/>
                </a:solidFill>
                <a:latin typeface="Arial"/>
              </a:rPr>
              <a:t>Loads user profile, injury contraindications, metabolic baselines, and historical adherence from persistent memory.</a:t>
            </a:r>
          </a:p>
          <a:p>
            <a:pPr>
              <a:spcAft>
                <a:spcPts val="300"/>
              </a:spcAft>
            </a:pPr>
            <a:r>
              <a:rPr sz="819" b="1">
                <a:solidFill>
                  <a:srgbClr val="1E3A8A"/>
                </a:solidFill>
                <a:latin typeface="Arial"/>
              </a:rPr>
              <a:t>3. ReAct Brain (Gemini / Ollama): </a:t>
            </a:r>
            <a:r>
              <a:rPr sz="819">
                <a:solidFill>
                  <a:srgbClr val="4A5568"/>
                </a:solidFill>
                <a:latin typeface="Arial"/>
              </a:rPr>
              <a:t>The LLM dynamically executes specialized domain tools (WorkoutDB, Nutrition Engine, Geospatial Places API, Progress Tracker).</a:t>
            </a:r>
          </a:p>
          <a:p>
            <a:pPr>
              <a:spcAft>
                <a:spcPts val="300"/>
              </a:spcAft>
            </a:pPr>
            <a:r>
              <a:rPr sz="819" b="1">
                <a:solidFill>
                  <a:srgbClr val="1E3A8A"/>
                </a:solidFill>
                <a:latin typeface="Arial"/>
              </a:rPr>
              <a:t>4. Deterministic Clinical Safety Gate: </a:t>
            </a:r>
            <a:r>
              <a:rPr sz="819">
                <a:solidFill>
                  <a:srgbClr val="4A5568"/>
                </a:solidFill>
                <a:latin typeface="Arial"/>
              </a:rPr>
              <a:t>Rigidly verifies generated plans against active physical injuries, allergen hazards, and safe caloric floors prior to dispatch.</a:t>
            </a:r>
          </a:p>
          <a:p>
            <a:pPr>
              <a:spcAft>
                <a:spcPts val="300"/>
              </a:spcAft>
            </a:pPr>
            <a:r>
              <a:rPr sz="819" b="1">
                <a:solidFill>
                  <a:srgbClr val="1E3A8A"/>
                </a:solidFill>
                <a:latin typeface="Arial"/>
              </a:rPr>
              <a:t>5. Active Monitoring &amp; Plan Evolution: </a:t>
            </a:r>
            <a:r>
              <a:rPr sz="819">
                <a:solidFill>
                  <a:srgbClr val="4A5568"/>
                </a:solidFill>
                <a:latin typeface="Arial"/>
              </a:rPr>
              <a:t>Continuously monitors user feedback, strain, and adherence to dynamically recalibrate volume, substitute exercises, and evolve the plan in memory.</a:t>
            </a:r>
          </a:p>
        </p:txBody>
      </p:sp>
      <p:pic>
        <p:nvPicPr>
          <p:cNvPr id="99" name="Picture 98" descr="qr_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977639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